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4592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9E0B"/>
                </a:solidFill>
                <a:latin typeface="Calibri"/>
              </a:rPr>
              <a:t>SlackFirst Golden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  <a:latin typeface="Calibri"/>
              </a:rPr>
              <a:t>Wrap-Up &amp; Learnings — Dreamforce 2026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20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Salesforce Slack Design &amp; Cross-Cloud Teams · Oct–Nov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4297680"/>
            <a:ext cx="1371600" cy="320040"/>
          </a:xfrm>
          <a:prstGeom prst="rect">
            <a:avLst/>
          </a:prstGeom>
          <a:solidFill>
            <a:srgbClr val="1120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59E0B"/>
                </a:solidFill>
                <a:latin typeface="Calibri"/>
              </a:rPr>
              <a:t>Sales Cloud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4297680"/>
            <a:ext cx="1737360" cy="320040"/>
          </a:xfrm>
          <a:prstGeom prst="rect">
            <a:avLst/>
          </a:prstGeom>
          <a:solidFill>
            <a:srgbClr val="1120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59E0B"/>
                </a:solidFill>
                <a:latin typeface="Calibri"/>
              </a:rPr>
              <a:t>Marketing Cloud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4297680"/>
            <a:ext cx="1554480" cy="320040"/>
          </a:xfrm>
          <a:prstGeom prst="rect">
            <a:avLst/>
          </a:prstGeom>
          <a:solidFill>
            <a:srgbClr val="1120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59E0B"/>
                </a:solidFill>
                <a:latin typeface="Calibri"/>
              </a:rPr>
              <a:t>Service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7360920" y="4297680"/>
            <a:ext cx="1280160" cy="320040"/>
          </a:xfrm>
          <a:prstGeom prst="rect">
            <a:avLst/>
          </a:prstGeom>
          <a:solidFill>
            <a:srgbClr val="1120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59E0B"/>
                </a:solidFill>
                <a:latin typeface="Calibri"/>
              </a:rPr>
              <a:t>AgentForce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4297680"/>
            <a:ext cx="1280160" cy="320040"/>
          </a:xfrm>
          <a:prstGeom prst="rect">
            <a:avLst/>
          </a:prstGeom>
          <a:solidFill>
            <a:srgbClr val="1120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59E0B"/>
                </a:solidFill>
                <a:latin typeface="Calibri"/>
              </a:rPr>
              <a:t>Agentic 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9E0B"/>
                </a:solidFill>
                <a:latin typeface="Calibri"/>
              </a:rPr>
              <a:t>What Is the Golden Demo?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ORIGIN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THE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EF7"/>
                </a:solidFill>
                <a:latin typeface="Calibri"/>
              </a:rPr>
              <a:t>Requested directly by Marc Benioff after seeing three separate SlackFirst demos at the Hawaii offsite. He wanted a single unified vision projecting 12–18 months ahead to Dreamforce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EF7"/>
                </a:solidFill>
                <a:latin typeface="Calibri"/>
              </a:rPr>
              <a:t>Slack as the Agentic OS for the enterprise — AgentForce, Slack, and third-party agents connected in a single cross-cloud story, all rooted in user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023360"/>
            <a:ext cx="10881360" cy="777240"/>
          </a:xfrm>
          <a:prstGeom prst="rect">
            <a:avLst/>
          </a:prstGeom>
          <a:solidFill>
            <a:srgbClr val="11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023360"/>
            <a:ext cx="64008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10652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Safe harbor: This is an exploratory prototype. Nothing featured is on the product roadmap (yet) or representative of final 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9E0B"/>
                </a:solidFill>
                <a:latin typeface="Calibri"/>
              </a:rPr>
              <a:t>Today's 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3474720" cy="3474720"/>
          </a:xfrm>
          <a:prstGeom prst="rect">
            <a:avLst/>
          </a:prstGeom>
          <a:solidFill>
            <a:srgbClr val="11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Part 1 · By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SlackFirst Sales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SlackFirst Marketing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SlackFirst 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19" y="1463040"/>
            <a:ext cx="3474720" cy="3474720"/>
          </a:xfrm>
          <a:prstGeom prst="rect">
            <a:avLst/>
          </a:prstGeom>
          <a:solidFill>
            <a:srgbClr val="11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1999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Part 2 ·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999" y="21031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Platform primitives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Agentic OS big rocks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58" y="1463040"/>
            <a:ext cx="3474720" cy="3474720"/>
          </a:xfrm>
          <a:prstGeom prst="rect">
            <a:avLst/>
          </a:prstGeom>
          <a:solidFill>
            <a:srgbClr val="11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38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Part 3 ·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38" y="21031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Research &amp; learnings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What's next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A1628"/>
                </a:solidFill>
                <a:latin typeface="Calibri"/>
              </a:rPr>
              <a:t>  Sales Cloud  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2880"/>
            <a:ext cx="1129284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A1628"/>
                </a:solidFill>
                <a:latin typeface="Calibri"/>
              </a:rPr>
              <a:t>SALES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9E0B"/>
                </a:solidFill>
                <a:latin typeface="Calibri"/>
              </a:rPr>
              <a:t>SlackFirst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Follow an Account Executive working a deal to close — using AI to automate updates, gather quotes, get approvals, and turn meetings into 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KEY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65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CORE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Slack Voice Mode for seamless communication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Rich agent interactions &amp; recommendations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Ambient Intelligence + meeting recaps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Approvals with AI context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Tableau metrics integration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286000"/>
            <a:ext cx="5212080" cy="1463040"/>
          </a:xfrm>
          <a:prstGeom prst="rect">
            <a:avLst/>
          </a:prstGeom>
          <a:solidFill>
            <a:srgbClr val="11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286000"/>
            <a:ext cx="64008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4983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"Speed is everything for sellers. The more we smartly automate — updating Salesforce, gathering quotes, getting approvals — the more they can focus on closing."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A1628"/>
                </a:solidFill>
                <a:latin typeface="Calibri"/>
              </a:rPr>
              <a:t>  Sales Cloud · Research Voices  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2880"/>
            <a:ext cx="2528316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A1628"/>
                </a:solidFill>
                <a:latin typeface="Calibri"/>
              </a:rPr>
              <a:t>SALES CLOUD · RESEARCH VOICES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9E0B"/>
                </a:solidFill>
                <a:latin typeface="Calibri"/>
              </a:rPr>
              <a:t>What Sellers Actually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881360" cy="1188720"/>
          </a:xfrm>
          <a:prstGeom prst="rect">
            <a:avLst/>
          </a:prstGeom>
          <a:solidFill>
            <a:srgbClr val="11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64008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652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"One of my biggest gripes is updating Salesforce hygiene. In a perfect world: 'Push all opportunities with close dates in the next 7 days out by two weeks.' That would be the biggest use case."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881360" cy="1005840"/>
          </a:xfrm>
          <a:prstGeom prst="rect">
            <a:avLst/>
          </a:prstGeom>
          <a:solidFill>
            <a:srgbClr val="11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697480"/>
            <a:ext cx="64008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10652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"Can it create the opportunity Slack channel and pull the meeting together? Otherwise it's 20 min of finding time on people's calendars."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40480"/>
            <a:ext cx="10881360" cy="1005840"/>
          </a:xfrm>
          <a:prstGeom prst="rect">
            <a:avLst/>
          </a:prstGeom>
          <a:solidFill>
            <a:srgbClr val="11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840480"/>
            <a:ext cx="64008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10652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"A meeting can have 10–12 different tasks... it doesn't trigger actions or next steps. [This AI solution] would make the process more agile for the whole team."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A1628"/>
                </a:solidFill>
                <a:latin typeface="Calibri"/>
              </a:rPr>
              <a:t>  Marketing Cloud  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2880"/>
            <a:ext cx="14401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A1628"/>
                </a:solidFill>
                <a:latin typeface="Calibri"/>
              </a:rPr>
              <a:t>MARKETING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9E0B"/>
                </a:solidFill>
                <a:latin typeface="Calibri"/>
              </a:rPr>
              <a:t>SlackFirst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Follow a marketing manager through campaign brief creation and launch — eliminating scattered knowledge, misaligned stakeholders, and siloed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KEY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65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CORE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Agentic Deep Research for market insights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Agentic Campaign Creation with AI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Integrated Analytics in Slack workflows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Seamless Handoff to Salesforce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Multi-player Agent Experience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286000"/>
            <a:ext cx="5212080" cy="1463040"/>
          </a:xfrm>
          <a:prstGeom prst="rect">
            <a:avLst/>
          </a:prstGeom>
          <a:solidFill>
            <a:srgbClr val="11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286000"/>
            <a:ext cx="64008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4983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"Updating all the different documents, spreadsheets, trackers — everybody has to review that, and then there are 500 variations. It's just a lot of tactical work."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A1628"/>
                </a:solidFill>
                <a:latin typeface="Calibri"/>
              </a:rPr>
              <a:t>  Marketing Cloud · Research Voices  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2880"/>
            <a:ext cx="283921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A1628"/>
                </a:solidFill>
                <a:latin typeface="Calibri"/>
              </a:rPr>
              <a:t>MARKETING CLOUD · RESEARCH VOICES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9E0B"/>
                </a:solidFill>
                <a:latin typeface="Calibri"/>
              </a:rPr>
              <a:t>What Marketers Actually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solidFill>
            <a:srgbClr val="11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64008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652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"The things that take up the most time are creating the brief and getting approvals."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23160"/>
            <a:ext cx="10881360" cy="1097280"/>
          </a:xfrm>
          <a:prstGeom prst="rect">
            <a:avLst/>
          </a:prstGeom>
          <a:solidFill>
            <a:srgbClr val="11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423160"/>
            <a:ext cx="64008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10652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"If there's a way that it's not just a screenshot — and there was an easy way to prompt Slack to go pull something from Tableau and put it in the chat so we could both reference it, that'd be cool."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57600"/>
            <a:ext cx="10881360" cy="1005840"/>
          </a:xfrm>
          <a:prstGeom prst="rect">
            <a:avLst/>
          </a:prstGeom>
          <a:solidFill>
            <a:srgbClr val="11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657600"/>
            <a:ext cx="64008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749040"/>
            <a:ext cx="10652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"I want to see how many customers received a specific campaign... it's hard to keep track and I wish the data was more self-serve."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A1628"/>
                </a:solidFill>
                <a:latin typeface="Calibri"/>
              </a:rPr>
              <a:t>  Service Cloud  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2880"/>
            <a:ext cx="128473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A1628"/>
                </a:solidFill>
                <a:latin typeface="Calibri"/>
              </a:rPr>
              <a:t>SERVICE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9E0B"/>
                </a:solidFill>
                <a:latin typeface="Calibri"/>
              </a:rPr>
              <a:t>SlackFirst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Follow a Service Rep through a customer call — starting a swarm, finding experts, and resolving a case while supervisors monitor service quality in real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KEY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65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CORE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Ask Anything for instant information access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Ambient Intelligence during customer calls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In-swarm Expert Finder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Service Supervisor workflow integration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Agentic knowledge updates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286000"/>
            <a:ext cx="5212080" cy="1463040"/>
          </a:xfrm>
          <a:prstGeom prst="rect">
            <a:avLst/>
          </a:prstGeom>
          <a:solidFill>
            <a:srgbClr val="11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286000"/>
            <a:ext cx="64008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4983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"There's a lot of noise in escalation channels. Just summarizing — 'here were 3 incidents, here's what you need to know' — while cutting out all the back and forth."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A1628"/>
                </a:solidFill>
                <a:latin typeface="Calibri"/>
              </a:rPr>
              <a:t>  Service Cloud · Research Voices  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2880"/>
            <a:ext cx="2683764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A1628"/>
                </a:solidFill>
                <a:latin typeface="Calibri"/>
              </a:rPr>
              <a:t>SERVICE CLOUD · RESEARCH VOICES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9E0B"/>
                </a:solidFill>
                <a:latin typeface="Calibri"/>
              </a:rPr>
              <a:t>What Service Teams Actually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solidFill>
            <a:srgbClr val="11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64008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652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"If during a call, AI is able to pull from a knowledge base... someone's asking about shipping time frames and it's just not on the top of your head. It would be nice to have something pull that in."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06040"/>
            <a:ext cx="10881360" cy="1005840"/>
          </a:xfrm>
          <a:prstGeom prst="rect">
            <a:avLst/>
          </a:prstGeom>
          <a:solidFill>
            <a:srgbClr val="11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64008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10652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"That's always a struggle — making sure things are moving along and that someone didn't miss something, or that a lot of attention is being given to something low-priority."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49039"/>
            <a:ext cx="10881360" cy="822960"/>
          </a:xfrm>
          <a:prstGeom prst="rect">
            <a:avLst/>
          </a:prstGeom>
          <a:solidFill>
            <a:srgbClr val="11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749039"/>
            <a:ext cx="64008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840479"/>
            <a:ext cx="10652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"'Why did this number drop?' — Getting that answer quickly is usually very important."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9E0B"/>
                </a:solidFill>
                <a:latin typeface="Calibri"/>
              </a:rPr>
              <a:t>Platform Capabilities &amp; Primitives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Native Slack capabilities woven throughout all three cloud vignettes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STARTING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00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AGENTIC OS BIG ROCKS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Today View — Focused place to start your day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Task Management — Central agent/task/to-do hub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Approvals — Salesforce notifications &amp; workflow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Email — Downmarket composition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Meetings + Calendar — Slack ↔ Salesforce sync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Rich Agentic Interactivity — CRM updates &amp; record creation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Agent Orchestration — Single interface for multiple AI agents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Ambient Intelligence — Real-time listening, transcription, action items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Agent &amp; AppExchange — Marketplace for agents &amp; workflows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9E0B"/>
                </a:solidFill>
                <a:latin typeface="Calibri"/>
              </a:rPr>
              <a:t>Broad Research Themes &amp; Learnings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0881360" cy="822960"/>
          </a:xfrm>
          <a:prstGeom prst="rect">
            <a:avLst/>
          </a:prstGeom>
          <a:solidFill>
            <a:srgbClr val="11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64008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652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Lean into SlackFirst advantages. Deep context, everything in one place, immediate action.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10881360" cy="822960"/>
          </a:xfrm>
          <a:prstGeom prst="rect">
            <a:avLst/>
          </a:prstGeom>
          <a:solidFill>
            <a:srgbClr val="11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64008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652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Think holistically about use cases. Meetings are high-leverage: before, during, and after. Solve the 'work of work.'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0400"/>
            <a:ext cx="10881360" cy="822960"/>
          </a:xfrm>
          <a:prstGeom prst="rect">
            <a:avLst/>
          </a:prstGeom>
          <a:solidFill>
            <a:srgbClr val="11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00400"/>
            <a:ext cx="64008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10652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Ambient AI felt novel. Make behavior configurable — show when AI is listening; allow hiding when screen-sharing.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14800"/>
            <a:ext cx="10881360" cy="822960"/>
          </a:xfrm>
          <a:prstGeom prst="rect">
            <a:avLst/>
          </a:prstGeom>
          <a:solidFill>
            <a:srgbClr val="11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114800"/>
            <a:ext cx="64008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10652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Build trust over time. Start with humans in the loop; give tools for feedback and configuration.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29200"/>
            <a:ext cx="10881360" cy="822960"/>
          </a:xfrm>
          <a:prstGeom prst="rect">
            <a:avLst/>
          </a:prstGeom>
          <a:solidFill>
            <a:srgbClr val="11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29200"/>
            <a:ext cx="64008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20640"/>
            <a:ext cx="10652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Noise &amp; channel sprawl reduce Slack's value. Be thoughtful about when channels/notifications are created.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9E0B"/>
                </a:solidFill>
                <a:latin typeface="Calibri"/>
              </a:rPr>
              <a:t>What the Golden Demo Is (and Isn't)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DE80"/>
                </a:solidFill>
                <a:latin typeface="Calibri"/>
              </a:rPr>
              <a:t>What It Is  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7171"/>
                </a:solidFill>
                <a:latin typeface="Calibri"/>
              </a:rPr>
              <a:t>What It's Not  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Forward-looking Figma prototype for DF2026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Conversational, agentic-first, AI-powered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AgentForce + Slack + 3rd-party agents cross-cloud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Slack as the Agentic OS — three distinct vignettes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EF7"/>
                </a:solidFill>
                <a:latin typeface="Calibri"/>
              </a:rPr>
              <a:t>• Rooted in real user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87171"/>
                </a:solidFill>
                <a:latin typeface="Calibri"/>
              </a:rPr>
              <a:t>• Not a locked commitment or product roadmap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87171"/>
                </a:solidFill>
                <a:latin typeface="Calibri"/>
              </a:rPr>
              <a:t>• Not replacing Solutions CoE Golden Demos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87171"/>
                </a:solidFill>
                <a:latin typeface="Calibri"/>
              </a:rPr>
              <a:t>• Not focused on complex document creation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87171"/>
                </a:solidFill>
                <a:latin typeface="Calibri"/>
              </a:rPr>
              <a:t>• Not just product walkthroughs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9E0B"/>
                </a:solidFill>
                <a:latin typeface="Calibri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SOCIALIZING WITH SALESFORCE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GET INVOLVED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8EEF7"/>
                </a:solidFill>
                <a:latin typeface="Calibri"/>
              </a:rPr>
              <a:t>• Service Cloud integration for contact centers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EF7"/>
                </a:solidFill>
                <a:latin typeface="Calibri"/>
              </a:rPr>
              <a:t>• ITSM evolution within Slack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EF7"/>
                </a:solidFill>
                <a:latin typeface="Calibri"/>
              </a:rPr>
              <a:t>• Cloud-specific SlackFirst app vision consultations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EF7"/>
                </a:solidFill>
                <a:latin typeface="Calibri"/>
              </a:rPr>
              <a:t>• V2MOM development for joint SlackFirst FY27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8EEF7"/>
                </a:solidFill>
                <a:latin typeface="Calibri"/>
              </a:rPr>
              <a:t>• #temp-slack-first-golden-demo — Primary channel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EF7"/>
                </a:solidFill>
                <a:latin typeface="Calibri"/>
              </a:rPr>
              <a:t>• #golden-demo-research-sessions — Research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EF7"/>
                </a:solidFill>
                <a:latin typeface="Calibri"/>
              </a:rPr>
              <a:t>• Golden Demo Dream Team doc for stakeholders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4114800"/>
            <a:ext cx="5212080" cy="914400"/>
          </a:xfrm>
          <a:prstGeom prst="rect">
            <a:avLst/>
          </a:prstGeom>
          <a:solidFill>
            <a:srgbClr val="11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4114800"/>
            <a:ext cx="64008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420624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Questions? Reach out in the project channels or connect with the Slack Design &amp; Cross-Cloud teams directly.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4592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59E0B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  <a:latin typeface="Calibri"/>
              </a:rPr>
              <a:t>Slack as the Agentic OS for the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4572000"/>
            <a:ext cx="1371600" cy="320040"/>
          </a:xfrm>
          <a:prstGeom prst="rect">
            <a:avLst/>
          </a:prstGeom>
          <a:solidFill>
            <a:srgbClr val="1120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59E0B"/>
                </a:solidFill>
                <a:latin typeface="Calibri"/>
              </a:rPr>
              <a:t>Sales Cloud</a:t>
            </a:r>
          </a:p>
        </p:txBody>
      </p:sp>
      <p:sp>
        <p:nvSpPr>
          <p:cNvPr id="6" name="Rectangle 5"/>
          <p:cNvSpPr/>
          <p:nvPr/>
        </p:nvSpPr>
        <p:spPr>
          <a:xfrm>
            <a:off x="2697480" y="4572000"/>
            <a:ext cx="1737360" cy="320040"/>
          </a:xfrm>
          <a:prstGeom prst="rect">
            <a:avLst/>
          </a:prstGeom>
          <a:solidFill>
            <a:srgbClr val="1120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59E0B"/>
                </a:solidFill>
                <a:latin typeface="Calibri"/>
              </a:rPr>
              <a:t>Marketing Cloud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572000"/>
            <a:ext cx="1554480" cy="320040"/>
          </a:xfrm>
          <a:prstGeom prst="rect">
            <a:avLst/>
          </a:prstGeom>
          <a:solidFill>
            <a:srgbClr val="1120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59E0B"/>
                </a:solidFill>
                <a:latin typeface="Calibri"/>
              </a:rPr>
              <a:t>Service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4572000"/>
            <a:ext cx="1280160" cy="320040"/>
          </a:xfrm>
          <a:prstGeom prst="rect">
            <a:avLst/>
          </a:prstGeom>
          <a:solidFill>
            <a:srgbClr val="1120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59E0B"/>
                </a:solidFill>
                <a:latin typeface="Calibri"/>
              </a:rPr>
              <a:t>Data Cloud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4572000"/>
            <a:ext cx="1280160" cy="320040"/>
          </a:xfrm>
          <a:prstGeom prst="rect">
            <a:avLst/>
          </a:prstGeom>
          <a:solidFill>
            <a:srgbClr val="1120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59E0B"/>
                </a:solidFill>
                <a:latin typeface="Calibri"/>
              </a:rPr>
              <a:t>AgentForce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98280" y="4572000"/>
            <a:ext cx="1005840" cy="320040"/>
          </a:xfrm>
          <a:prstGeom prst="rect">
            <a:avLst/>
          </a:prstGeom>
          <a:solidFill>
            <a:srgbClr val="1120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59E0B"/>
                </a:solidFill>
                <a:latin typeface="Calibri"/>
              </a:rPr>
              <a:t>Tableau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